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94960" y="1965960"/>
            <a:ext cx="201168" cy="201168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400" b="1">
                <a:solidFill>
                  <a:srgbClr val="F1F5F9"/>
                </a:solidFill>
                <a:latin typeface="Arial"/>
              </a:rPr>
              <a:t>OilWatch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004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>
                <a:solidFill>
                  <a:srgbClr val="94A3B8"/>
                </a:solidFill>
                <a:latin typeface="Arial"/>
              </a:rPr>
              <a:t>Обнаружение нефтяных разливов по спутниковым снимкам с помощью 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B82F6"/>
                </a:solidFill>
                <a:latin typeface="Arial"/>
              </a:rPr>
              <a:t>Caspian Sea Action Week — Хакатон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1F5F9"/>
                </a:solidFill>
                <a:latin typeface="Arial"/>
              </a:rPr>
              <a:t>[Название команды]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94A3B8"/>
                </a:solidFill>
                <a:latin typeface="Arial"/>
              </a:rPr>
              <a:t>[Участники команды]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Arial"/>
              </a:rPr>
              <a:t>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Arial"/>
              </a:rPr>
              <a:t>Нефтяные разливы угрожают Каспийскому морю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4A3B8"/>
                </a:solidFill>
                <a:latin typeface="Arial"/>
              </a:rPr>
              <a:t>Каспий — замкнутый водоём: загрязнению некуда рассеиваться, течений, которые бы его вымывали, нет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40280"/>
            <a:ext cx="146304" cy="146304"/>
          </a:xfrm>
          <a:prstGeom prst="ellipse">
            <a:avLst/>
          </a:prstGeom>
          <a:solidFill>
            <a:srgbClr val="E6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1F5F9"/>
                </a:solidFill>
                <a:latin typeface="Arial"/>
              </a:rPr>
              <a:t>Медленное обнаружение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30632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3B8"/>
                </a:solidFill>
                <a:latin typeface="Arial"/>
              </a:rPr>
              <a:t>О разливах часто узнают с опозданием на часы или дни — случайно, от местных жителей, или когда ущерб уже виден.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92024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2240280"/>
            <a:ext cx="146304" cy="146304"/>
          </a:xfrm>
          <a:prstGeom prst="ellipse">
            <a:avLst/>
          </a:prstGeom>
          <a:solidFill>
            <a:srgbClr val="E6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51460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1F5F9"/>
                </a:solidFill>
                <a:latin typeface="Arial"/>
              </a:rPr>
              <a:t>Ручной мониторинг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63240"/>
            <a:ext cx="30632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3B8"/>
                </a:solidFill>
                <a:latin typeface="Arial"/>
              </a:rPr>
              <a:t>Патрули и визуальный осмотр не могут стабильно покрывать ~370 000 км² Каспия, тем более ночью или в непогоду.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92024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2240280"/>
            <a:ext cx="146304" cy="146304"/>
          </a:xfrm>
          <a:prstGeom prst="ellipse">
            <a:avLst/>
          </a:prstGeom>
          <a:solidFill>
            <a:srgbClr val="E6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51460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1F5F9"/>
                </a:solidFill>
                <a:latin typeface="Arial"/>
              </a:rPr>
              <a:t>Высокая экологическая цена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063240"/>
            <a:ext cx="30632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94A3B8"/>
                </a:solidFill>
                <a:latin typeface="Arial"/>
              </a:rPr>
              <a:t>Каспий окружён нефтедобывающей инфраструктурой; незамеченный на ранней стадии разлив превращается в экологическую и экономическую катастрофу.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OilWatch AI — Caspian Hackathon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Arial"/>
              </a:rPr>
              <a:t>ЦЕЛЬ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Arial"/>
              </a:rPr>
              <a:t>Автоматически обнаруживать нефтяные разливы по реальным спутниковым данным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11247120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F1F5F9"/>
                </a:solidFill>
                <a:latin typeface="Arial"/>
              </a:rPr>
              <a:t>Дать спасательным службам и регулирующим органам быстрый, недорогой и постоянно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F1F5F9"/>
                </a:solidFill>
                <a:latin typeface="Arial"/>
              </a:rPr>
              <a:t>доступный способ находить нефтяные разливы на Каспии — до того, как они распространятся.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77639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94A3B8"/>
                </a:solidFill>
                <a:latin typeface="Arial"/>
              </a:rPr>
              <a:t>Сегодня: анализ загруженных спутниковых снимков по запросу.</a:t>
            </a:r>
          </a:p>
          <a:p>
            <a:pPr algn="l">
              <a:lnSpc>
                <a:spcPct val="150000"/>
              </a:lnSpc>
            </a:pPr>
            <a:r>
              <a:rPr sz="1500" b="0">
                <a:solidFill>
                  <a:srgbClr val="94A3B8"/>
                </a:solidFill>
                <a:latin typeface="Arial"/>
              </a:rPr>
              <a:t>Завтра: непрерывный автоматический мониторинг с живого спутникового потока.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OilWatch AI — Caspian Hackathon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Arial"/>
              </a:rPr>
              <a:t>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Arial"/>
              </a:rPr>
              <a:t>OilWatch AI — SAR-снимок на входе, обнаружение разлива на выходе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697480" cy="320040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22860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1F5F9"/>
                </a:solidFill>
                <a:latin typeface="Arial"/>
              </a:rPr>
              <a:t>Загрузка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2240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4A3B8"/>
                </a:solidFill>
                <a:latin typeface="Arial"/>
              </a:rPr>
              <a:t>SAR (радарный) спутниковый снимок загружается через дашборд.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011680"/>
            <a:ext cx="2697480" cy="320040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20440" y="22860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9718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1F5F9"/>
                </a:solidFill>
                <a:latin typeface="Arial"/>
              </a:rPr>
              <a:t>Анализ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429000"/>
            <a:ext cx="2240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4A3B8"/>
                </a:solidFill>
                <a:latin typeface="Arial"/>
              </a:rPr>
              <a:t>Модель сегментации U-Net классифицирует каждый пиксель: чистая вода или нефтяное пятно.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2011680"/>
            <a:ext cx="2697480" cy="320040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55080" y="22860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718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1F5F9"/>
                </a:solidFill>
                <a:latin typeface="Arial"/>
              </a:rPr>
              <a:t>Визуализация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429000"/>
            <a:ext cx="2240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4A3B8"/>
                </a:solidFill>
                <a:latin typeface="Arial"/>
              </a:rPr>
              <a:t>Дашборд показывает оригинал, цветовую маску, уверенность модели и площадь разлива.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011680"/>
            <a:ext cx="2697480" cy="320040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89720" y="228600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971800"/>
            <a:ext cx="2240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1F5F9"/>
                </a:solidFill>
                <a:latin typeface="Arial"/>
              </a:rPr>
              <a:t>История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429000"/>
            <a:ext cx="22402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4A3B8"/>
                </a:solidFill>
                <a:latin typeface="Arial"/>
              </a:rPr>
              <a:t>Каждое сканирование сохраняется в историю для непрерывного мониторинга.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OilWatch AI — Caspian Hackathon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Arial"/>
              </a:rPr>
              <a:t>ЦЕЛЕВАЯ АУДИТОРИЯ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Arial"/>
              </a:rPr>
              <a:t>Для кого создан продукт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5394960" cy="14630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Arial"/>
              </a:rPr>
              <a:t>Экологические ведомства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ial"/>
              </a:rPr>
              <a:t>Региональные и национальные органы, отвечающие за защиту Каспийского моря и реагирование на инциденты.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65960"/>
            <a:ext cx="5394960" cy="14630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Arial"/>
              </a:rPr>
              <a:t>Нефтегазовые операторы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ial"/>
              </a:rPr>
              <a:t>Операторы морских платформ, которым нужно раннее предупреждение об утечках рядом со своей или соседней инфраструктурой.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5394960" cy="14630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Arial"/>
              </a:rPr>
              <a:t>Службы экстренного реагирования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ial"/>
              </a:rPr>
              <a:t>Спасатели, которым важно быстро узнать местоположение и масштаб разлива до начала ликвидации.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394960" cy="14630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84048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Arial"/>
              </a:rPr>
              <a:t>Исследователи и НПО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51960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4A3B8"/>
                </a:solidFill>
                <a:latin typeface="Arial"/>
              </a:rPr>
              <a:t>Экологи и НПО, отслеживающие долгосрочные тренды загрязнения Каспия.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OilWatch AI — Caspian Hackathon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Arial"/>
              </a:rPr>
              <a:t>КЛЮЧЕВЫЕ ФУНКЦИИ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Arial"/>
              </a:rPr>
              <a:t>Что умеет MVP уже сейчас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221992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1F5F9"/>
                </a:solidFill>
                <a:latin typeface="Arial"/>
              </a:rPr>
              <a:t>Загрузка и детекция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Drag-and-drop загрузка SAR-снимка с мгновенным обнаружением разлива при помощи ИИ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9659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0" y="2221992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1488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1F5F9"/>
                </a:solidFill>
                <a:latin typeface="Arial"/>
              </a:rPr>
              <a:t>Маска сегментации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0604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Попиксельная визуализация того, где именно находится разлив, а не просто ответ да/нет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659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221992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214884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1F5F9"/>
                </a:solidFill>
                <a:latin typeface="Arial"/>
              </a:rPr>
              <a:t>Уверенность и площадь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60604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Численная оценка уверенности модели и площади разлива, а не просто метка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4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4005072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319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1F5F9"/>
                </a:solidFill>
                <a:latin typeface="Arial"/>
              </a:rPr>
              <a:t>История сканирований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Каждое предсказание сохраняется и доступно для просмотра — журнал мониторинга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74904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72000" y="4005072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39319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1F5F9"/>
                </a:solidFill>
                <a:latin typeface="Arial"/>
              </a:rPr>
              <a:t>Многоязычный интерфейс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8912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Дашборд доступен на английском, русском и казахском языках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74904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12480" y="4005072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39319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1F5F9"/>
                </a:solidFill>
                <a:latin typeface="Arial"/>
              </a:rPr>
              <a:t>Запуск одной командой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389120"/>
            <a:ext cx="3063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94A3B8"/>
                </a:solidFill>
                <a:latin typeface="Arial"/>
              </a:rPr>
              <a:t>Весь стек (БД, backend, frontend, nginx) поднимается одной командой 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OilWatch AI — Caspian Hackathon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Arial"/>
              </a:rPr>
              <a:t>ТЕХНОЛОГИЧЕСКИЙ СТЕК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Arial"/>
              </a:rPr>
              <a:t>Продакшн-архитектура, а не хакатонный костыль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B82F6"/>
                </a:solidFill>
                <a:latin typeface="Arial"/>
              </a:rPr>
              <a:t>Backend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807208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Arial"/>
              </a:rPr>
              <a:t>Python 3.13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374136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10128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Arial"/>
              </a:rPr>
              <a:t>Django 5 + DRF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41064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77056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Arial"/>
              </a:rPr>
              <a:t>TensorFlow / Keras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507992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43984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Arial"/>
              </a:rPr>
              <a:t>PostgreSQL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96596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21945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B82F6"/>
                </a:solidFill>
                <a:latin typeface="Arial"/>
              </a:rPr>
              <a:t>Frontend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0" y="2807208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7432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Arial"/>
              </a:rPr>
              <a:t>React + TypeScript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0" y="3374136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3310128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Arial"/>
              </a:rPr>
              <a:t>Vite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0" y="3941064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877056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Arial"/>
              </a:rPr>
              <a:t>TailwindCSS</a:t>
            </a:r>
          </a:p>
        </p:txBody>
      </p:sp>
      <p:sp>
        <p:nvSpPr>
          <p:cNvPr id="24" name="Oval 23"/>
          <p:cNvSpPr/>
          <p:nvPr/>
        </p:nvSpPr>
        <p:spPr>
          <a:xfrm>
            <a:off x="4572000" y="4507992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4443984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Arial"/>
              </a:rPr>
              <a:t>EN / RU / KK i18n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965960"/>
            <a:ext cx="3611880" cy="365760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21945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3B82F6"/>
                </a:solidFill>
                <a:latin typeface="Arial"/>
              </a:rPr>
              <a:t>Инфраструктура</a:t>
            </a:r>
          </a:p>
        </p:txBody>
      </p:sp>
      <p:sp>
        <p:nvSpPr>
          <p:cNvPr id="28" name="Oval 27"/>
          <p:cNvSpPr/>
          <p:nvPr/>
        </p:nvSpPr>
        <p:spPr>
          <a:xfrm>
            <a:off x="8412480" y="2807208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41080" y="274320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Arial"/>
              </a:rPr>
              <a:t>Docker Compose</a:t>
            </a:r>
          </a:p>
        </p:txBody>
      </p:sp>
      <p:sp>
        <p:nvSpPr>
          <p:cNvPr id="30" name="Oval 29"/>
          <p:cNvSpPr/>
          <p:nvPr/>
        </p:nvSpPr>
        <p:spPr>
          <a:xfrm>
            <a:off x="8412480" y="3374136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3310128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Arial"/>
              </a:rPr>
              <a:t>nginx (единая точка входа)</a:t>
            </a:r>
          </a:p>
        </p:txBody>
      </p:sp>
      <p:sp>
        <p:nvSpPr>
          <p:cNvPr id="32" name="Oval 31"/>
          <p:cNvSpPr/>
          <p:nvPr/>
        </p:nvSpPr>
        <p:spPr>
          <a:xfrm>
            <a:off x="8412480" y="3941064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41080" y="3877056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Arial"/>
              </a:rPr>
              <a:t>gunicorn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4507992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1080" y="4443984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1F5F9"/>
                </a:solidFill>
                <a:latin typeface="Arial"/>
              </a:rPr>
              <a:t>Hugging Face Hub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OilWatch AI — Caspian Hackathon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Arial"/>
              </a:rPr>
              <a:t>СТАТУС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Arial"/>
              </a:rPr>
              <a:t>Рабочий продукт, который можно независимо проверить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5486400" cy="365760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CA30C"/>
                </a:solidFill>
                <a:latin typeface="Arial"/>
              </a:rPr>
              <a:t>Что работает уже сейчас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807208"/>
            <a:ext cx="82296" cy="8229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43200"/>
            <a:ext cx="4709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1F5F9"/>
                </a:solidFill>
                <a:latin typeface="Arial"/>
              </a:rPr>
              <a:t>Реальный инференс через модель с Hugging Face (без имитации результатов)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374136"/>
            <a:ext cx="82296" cy="8229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310128"/>
            <a:ext cx="4709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1F5F9"/>
                </a:solidFill>
                <a:latin typeface="Arial"/>
              </a:rPr>
              <a:t>Проверено на реальных, опубликованных снимках разливов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41064"/>
            <a:ext cx="82296" cy="8229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877056"/>
            <a:ext cx="4709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1F5F9"/>
                </a:solidFill>
                <a:latin typeface="Arial"/>
              </a:rPr>
              <a:t>Полный деплой через Docker Compose: db + backend + frontend + nginx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507992"/>
            <a:ext cx="82296" cy="8229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443984"/>
            <a:ext cx="4709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1F5F9"/>
                </a:solidFill>
                <a:latin typeface="Arial"/>
              </a:rPr>
              <a:t>Демо-данные загружаются автоматически — дашборд не пустой при первом запуске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074920"/>
            <a:ext cx="82296" cy="8229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10912"/>
            <a:ext cx="4709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1F5F9"/>
                </a:solidFill>
                <a:latin typeface="Arial"/>
              </a:rPr>
              <a:t>Админ-панель для просмотра всех предсказаний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965960"/>
            <a:ext cx="5532120" cy="365760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194560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94A3B8"/>
                </a:solidFill>
                <a:latin typeface="Arial"/>
              </a:rPr>
              <a:t>Честно задокументированные ограничения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2807208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743200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1F5F9"/>
                </a:solidFill>
                <a:latin typeface="Arial"/>
              </a:rPr>
              <a:t>Нужны сырые SAR-снимки радара, а не обычные фото</a:t>
            </a:r>
          </a:p>
        </p:txBody>
      </p:sp>
      <p:sp>
        <p:nvSpPr>
          <p:cNvPr id="22" name="Oval 21"/>
          <p:cNvSpPr/>
          <p:nvPr/>
        </p:nvSpPr>
        <p:spPr>
          <a:xfrm>
            <a:off x="6446520" y="3465576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401568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1F5F9"/>
                </a:solidFill>
                <a:latin typeface="Arial"/>
              </a:rPr>
              <a:t>Пока только ручная загрузка — живой поток в планах</a:t>
            </a:r>
          </a:p>
        </p:txBody>
      </p:sp>
      <p:sp>
        <p:nvSpPr>
          <p:cNvPr id="24" name="Oval 23"/>
          <p:cNvSpPr/>
          <p:nvPr/>
        </p:nvSpPr>
        <p:spPr>
          <a:xfrm>
            <a:off x="6446520" y="4123944"/>
            <a:ext cx="82296" cy="82296"/>
          </a:xfrm>
          <a:prstGeom prst="ellipse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059936"/>
            <a:ext cx="47548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F1F5F9"/>
                </a:solidFill>
                <a:latin typeface="Arial"/>
              </a:rPr>
              <a:t>Тренировочный датасет базовой модели официально не задокументирован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OilWatch AI — Caspian Hackathon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384048"/>
            <a:ext cx="128016" cy="128016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9260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3B82F6"/>
                </a:solidFill>
                <a:latin typeface="Arial"/>
              </a:rPr>
              <a:t>ПОТЕНЦИАЛ РОСТА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F1F5F9"/>
                </a:solidFill>
                <a:latin typeface="Arial"/>
              </a:rPr>
              <a:t>Что будет после хакатона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6596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B82F6"/>
                </a:solidFill>
                <a:latin typeface="Arial"/>
              </a:rPr>
              <a:t>Ближайшие планы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063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4A3B8"/>
                </a:solidFill>
                <a:latin typeface="Arial"/>
              </a:rPr>
              <a:t>Автоматическая загрузка живого спутникового потока Sentinel-1 над Каспием — непрерывный мониторинг вместо ручной загрузки.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6596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2402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B82F6"/>
                </a:solidFill>
                <a:latin typeface="Arial"/>
              </a:rPr>
              <a:t>Среднесрочные планы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063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4A3B8"/>
                </a:solidFill>
                <a:latin typeface="Arial"/>
              </a:rPr>
              <a:t>Оповещения (SMS/email/Telegram) для служб реагирования при обнаружении разлива, с привязкой к карте.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965960"/>
            <a:ext cx="3611880" cy="3291840"/>
          </a:xfrm>
          <a:prstGeom prst="roundRect">
            <a:avLst>
              <a:gd name="adj" fmla="val 6000"/>
            </a:avLst>
          </a:prstGeom>
          <a:solidFill>
            <a:srgbClr val="141B2A"/>
          </a:solidFill>
          <a:ln w="12700">
            <a:solidFill>
              <a:srgbClr val="2A33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2402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3B82F6"/>
                </a:solidFill>
                <a:latin typeface="Arial"/>
              </a:rPr>
              <a:t>Долгосрочные планы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743200"/>
            <a:ext cx="3063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4A3B8"/>
                </a:solidFill>
                <a:latin typeface="Arial"/>
              </a:rPr>
              <a:t>Дообучение модели на данных, специфичных для Каспия, и расширение на другие экологические угрозы (цветение водорослей, незаконный вылов рыбы).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7784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4A3B8"/>
                </a:solidFill>
                <a:latin typeface="Arial"/>
              </a:rPr>
              <a:t>Обязуемся продолжать разработку до 31 декабря 2026 года — согласно условиям хакатона для победителей.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OilWatch AI — Caspian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4A3B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94960" y="2103120"/>
            <a:ext cx="201168" cy="201168"/>
          </a:xfrm>
          <a:prstGeom prst="ellipse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423160"/>
            <a:ext cx="12191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1F5F9"/>
                </a:solidFill>
                <a:latin typeface="Arial"/>
              </a:rPr>
              <a:t>Демонстрация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461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3B82F6"/>
                </a:solidFill>
                <a:latin typeface="Arial"/>
              </a:rPr>
              <a:t>github.com/turkpenbayev/oil-watch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>
                <a:solidFill>
                  <a:srgbClr val="94A3B8"/>
                </a:solidFill>
                <a:latin typeface="Arial"/>
              </a:rPr>
              <a:t>docker compose up --build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1F5F9"/>
                </a:solidFill>
                <a:latin typeface="Arial"/>
              </a:rP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